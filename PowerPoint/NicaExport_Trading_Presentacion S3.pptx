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2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[Caso de Estudio NicaExport Trading (1) 309 (2).xlsx]Valor FOB por pais !Tabla dinámica1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NI"/>
              <a:t>Valor</a:t>
            </a:r>
            <a:r>
              <a:rPr lang="es-NI" baseline="0"/>
              <a:t> FOB por paìs</a:t>
            </a:r>
            <a:endParaRPr lang="es-NI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NI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</c:pivotFmt>
      <c:pivotFmt>
        <c:idx val="1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</c:pivotFmt>
      <c:pivotFmt>
        <c:idx val="2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'Valor FOB por pais 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'Valor FOB por pais '!$A$4:$A$9</c:f>
              <c:strCache>
                <c:ptCount val="5"/>
                <c:pt idx="0">
                  <c:v>Costa Rica</c:v>
                </c:pt>
                <c:pt idx="1">
                  <c:v>EE.UU.</c:v>
                </c:pt>
                <c:pt idx="2">
                  <c:v>España</c:v>
                </c:pt>
                <c:pt idx="3">
                  <c:v>Guatemala</c:v>
                </c:pt>
                <c:pt idx="4">
                  <c:v>México</c:v>
                </c:pt>
              </c:strCache>
            </c:strRef>
          </c:cat>
          <c:val>
            <c:numRef>
              <c:f>'Valor FOB por pais '!$B$4:$B$9</c:f>
              <c:numCache>
                <c:formatCode>General</c:formatCode>
                <c:ptCount val="5"/>
                <c:pt idx="0">
                  <c:v>113544</c:v>
                </c:pt>
                <c:pt idx="1">
                  <c:v>168745</c:v>
                </c:pt>
                <c:pt idx="2">
                  <c:v>136328</c:v>
                </c:pt>
                <c:pt idx="3">
                  <c:v>119335</c:v>
                </c:pt>
                <c:pt idx="4">
                  <c:v>120313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04691072"/>
        <c:axId val="304691464"/>
        <c:axId val="0"/>
      </c:bar3DChart>
      <c:catAx>
        <c:axId val="304691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NI"/>
          </a:p>
        </c:txPr>
        <c:crossAx val="304691464"/>
        <c:crosses val="autoZero"/>
        <c:auto val="1"/>
        <c:lblAlgn val="ctr"/>
        <c:lblOffset val="100"/>
        <c:noMultiLvlLbl val="0"/>
      </c:catAx>
      <c:valAx>
        <c:axId val="304691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NI"/>
          </a:p>
        </c:txPr>
        <c:crossAx val="304691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NI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[Caso de Estudio NicaExport Trading (1) 309 (2).xlsx]Utilidad por producto!Tabla dinámica2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NI"/>
              <a:t>Utilida</a:t>
            </a:r>
            <a:r>
              <a:rPr lang="es-NI" baseline="0"/>
              <a:t>d por producto</a:t>
            </a:r>
            <a:endParaRPr lang="es-NI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NI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</c:pivotFmt>
      <c:pivotFmt>
        <c:idx val="1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</c:pivotFmt>
      <c:pivotFmt>
        <c:idx val="2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'Utilidad por producto'!$B$3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'Utilidad por producto'!$A$4:$A$9</c:f>
              <c:strCache>
                <c:ptCount val="5"/>
                <c:pt idx="0">
                  <c:v>Aceite de ajonjolí</c:v>
                </c:pt>
                <c:pt idx="1">
                  <c:v>Cacao en grano</c:v>
                </c:pt>
                <c:pt idx="2">
                  <c:v>Café especial</c:v>
                </c:pt>
                <c:pt idx="3">
                  <c:v>Maní procesado</c:v>
                </c:pt>
                <c:pt idx="4">
                  <c:v>Miel natural</c:v>
                </c:pt>
              </c:strCache>
            </c:strRef>
          </c:cat>
          <c:val>
            <c:numRef>
              <c:f>'Utilidad por producto'!$B$4:$B$9</c:f>
              <c:numCache>
                <c:formatCode>General</c:formatCode>
                <c:ptCount val="5"/>
                <c:pt idx="0">
                  <c:v>42218</c:v>
                </c:pt>
                <c:pt idx="1">
                  <c:v>36800</c:v>
                </c:pt>
                <c:pt idx="2">
                  <c:v>62832</c:v>
                </c:pt>
                <c:pt idx="3">
                  <c:v>33533.999999999993</c:v>
                </c:pt>
                <c:pt idx="4">
                  <c:v>38688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67635376"/>
        <c:axId val="267635768"/>
        <c:axId val="0"/>
      </c:bar3DChart>
      <c:catAx>
        <c:axId val="2676353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NI"/>
          </a:p>
        </c:txPr>
        <c:crossAx val="267635768"/>
        <c:crosses val="autoZero"/>
        <c:auto val="1"/>
        <c:lblAlgn val="ctr"/>
        <c:lblOffset val="100"/>
        <c:noMultiLvlLbl val="0"/>
      </c:catAx>
      <c:valAx>
        <c:axId val="2676357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NI"/>
          </a:p>
        </c:txPr>
        <c:crossAx val="267635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NI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83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5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2650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71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62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02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8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1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587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044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109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966960" y="640080"/>
            <a:ext cx="1645920" cy="1645920"/>
          </a:xfrm>
          <a:prstGeom prst="ellipse">
            <a:avLst/>
          </a:prstGeom>
          <a:solidFill>
            <a:srgbClr val="1F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1737360"/>
            <a:ext cx="1005840" cy="1005840"/>
          </a:xfrm>
          <a:prstGeom prst="ellipse">
            <a:avLst/>
          </a:prstGeom>
          <a:solidFill>
            <a:srgbClr val="78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5394960"/>
            <a:ext cx="2286000" cy="2286000"/>
          </a:xfrm>
          <a:prstGeom prst="ellipse">
            <a:avLst/>
          </a:prstGeom>
          <a:solidFill>
            <a:srgbClr val="1F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NicaExport Trading, S.A.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78CDE6"/>
                </a:solidFill>
                <a:latin typeface="Aptos"/>
              </a:defRPr>
            </a:pPr>
            <a:r>
              <a:t>Análisis de Operaciones</a:t>
            </a:r>
            <a:br/>
            <a:r>
              <a:t>de Comercio Internacional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2461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rPr dirty="0"/>
              <a:t>Universidad Americana</a:t>
            </a:r>
            <a:br>
              <a:rPr dirty="0"/>
            </a:br>
            <a:r>
              <a:rPr dirty="0" err="1"/>
              <a:t>Negocios</a:t>
            </a:r>
            <a:r>
              <a:rPr dirty="0"/>
              <a:t> </a:t>
            </a:r>
            <a:r>
              <a:rPr dirty="0" err="1"/>
              <a:t>Internacionales</a:t>
            </a:r>
            <a:r>
              <a:rPr dirty="0"/>
              <a:t/>
            </a:r>
            <a:br>
              <a:rPr dirty="0"/>
            </a:br>
            <a:r>
              <a:rPr dirty="0" err="1"/>
              <a:t>Tecnologías</a:t>
            </a:r>
            <a:r>
              <a:rPr dirty="0"/>
              <a:t> de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Información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64108" y="4577501"/>
            <a:ext cx="5257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7F4F2"/>
                </a:solidFill>
                <a:latin typeface="Aptos"/>
              </a:defRPr>
            </a:pPr>
            <a:r>
              <a:rPr lang="es-MX" dirty="0" err="1" smtClean="0"/>
              <a:t>Krisbell</a:t>
            </a:r>
            <a:r>
              <a:rPr lang="es-MX" dirty="0" smtClean="0"/>
              <a:t> Alise Canales Otero </a:t>
            </a:r>
            <a:endParaRPr dirty="0"/>
          </a:p>
        </p:txBody>
      </p:sp>
      <p:sp>
        <p:nvSpPr>
          <p:cNvPr id="9" name="TextBox 7"/>
          <p:cNvSpPr txBox="1"/>
          <p:nvPr/>
        </p:nvSpPr>
        <p:spPr>
          <a:xfrm>
            <a:off x="864108" y="4818668"/>
            <a:ext cx="5257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7F4F2"/>
                </a:solidFill>
                <a:latin typeface="Aptos"/>
              </a:defRPr>
            </a:pPr>
            <a:r>
              <a:rPr lang="es-MX" dirty="0" smtClean="0"/>
              <a:t>Ana Iris Mejía Urbina</a:t>
            </a:r>
          </a:p>
          <a:p>
            <a:pPr algn="l">
              <a:defRPr sz="1300" b="1">
                <a:solidFill>
                  <a:srgbClr val="D7F4F2"/>
                </a:solidFill>
                <a:latin typeface="Aptos"/>
              </a:defRPr>
            </a:pPr>
            <a:r>
              <a:rPr lang="es-MX" dirty="0" smtClean="0"/>
              <a:t>Andy José Prendiz Jiménez </a:t>
            </a:r>
            <a:endParaRPr dirty="0"/>
          </a:p>
        </p:txBody>
      </p:sp>
      <p:sp>
        <p:nvSpPr>
          <p:cNvPr id="10" name="TextBox 7"/>
          <p:cNvSpPr txBox="1"/>
          <p:nvPr/>
        </p:nvSpPr>
        <p:spPr>
          <a:xfrm>
            <a:off x="4039738" y="5629061"/>
            <a:ext cx="55981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7F4F2"/>
                </a:solidFill>
                <a:latin typeface="Aptos"/>
              </a:defRPr>
            </a:pPr>
            <a:r>
              <a:rPr lang="es-MX" sz="1600" dirty="0" smtClean="0"/>
              <a:t>10/09/26</a:t>
            </a:r>
            <a:r>
              <a:rPr lang="es-MX" dirty="0" smtClean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4150"/>
                </a:solidFill>
                <a:latin typeface="Aptos"/>
              </a:defRPr>
            </a:pPr>
            <a:r>
              <a:t>Situación y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A9A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A9A5"/>
                </a:solidFill>
                <a:latin typeface="Aptos"/>
              </a:defRPr>
            </a:pPr>
            <a:r>
              <a:t>Situación empresarial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0">
                <a:solidFill>
                  <a:srgbClr val="26373E"/>
                </a:solidFill>
                <a:latin typeface="Aptos"/>
              </a:defRPr>
            </a:pPr>
            <a:r>
              <a:t>NicaExport Trading, S.A. es una empresa nicaragüense dedicada a la exportación de productos agroindustriales hacia diferentes mercados internacionales. Durante el primer semestre de 2026 realizó operaciones hacia Estados Unidos, México, Costa Rica, Guatemala, El Salvador y España.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A9A5"/>
                </a:solidFill>
                <a:latin typeface="Aptos"/>
              </a:defRPr>
            </a:pPr>
            <a:r>
              <a:t>Objetivo del análisis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9164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0">
                <a:solidFill>
                  <a:srgbClr val="26373E"/>
                </a:solidFill>
                <a:latin typeface="Aptos"/>
              </a:defRPr>
            </a:pPr>
            <a:r>
              <a:t>Analizar las operaciones internacionales para identificar los mercados con mayor participación, los productos que generan mayor utilidad, el comportamiento de las exportaciones y las operaciones que requieren seguimiento.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60"/>
            <a:ext cx="3200400" cy="1188720"/>
          </a:xfrm>
          <a:prstGeom prst="roundRect">
            <a:avLst/>
          </a:prstGeom>
          <a:solidFill>
            <a:srgbClr val="E8F8FA"/>
          </a:solidFill>
          <a:ln>
            <a:solidFill>
              <a:srgbClr val="1FA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0301" y="4584710"/>
            <a:ext cx="39169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44150"/>
                </a:solidFill>
                <a:latin typeface="Aptos"/>
              </a:defRPr>
            </a:pPr>
            <a:r>
              <a:rPr sz="2800" dirty="0" err="1"/>
              <a:t>Mercados</a:t>
            </a:r>
            <a:endParaRPr sz="2800" dirty="0"/>
          </a:p>
        </p:txBody>
      </p:sp>
      <p:sp>
        <p:nvSpPr>
          <p:cNvPr id="12" name="Rounded Rectangle 11"/>
          <p:cNvSpPr/>
          <p:nvPr/>
        </p:nvSpPr>
        <p:spPr>
          <a:xfrm>
            <a:off x="4480560" y="4251960"/>
            <a:ext cx="3200400" cy="1188720"/>
          </a:xfrm>
          <a:prstGeom prst="roundRect">
            <a:avLst/>
          </a:prstGeom>
          <a:solidFill>
            <a:srgbClr val="E8F8FA"/>
          </a:solidFill>
          <a:ln>
            <a:solidFill>
              <a:srgbClr val="78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78527" y="4584710"/>
            <a:ext cx="283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44150"/>
                </a:solidFill>
                <a:latin typeface="Aptos"/>
              </a:defRPr>
            </a:pPr>
            <a:r>
              <a:rPr sz="2800" dirty="0" err="1"/>
              <a:t>Productos</a:t>
            </a:r>
            <a:endParaRPr sz="2800" dirty="0"/>
          </a:p>
        </p:txBody>
      </p:sp>
      <p:sp>
        <p:nvSpPr>
          <p:cNvPr id="15" name="Rounded Rectangle 14"/>
          <p:cNvSpPr/>
          <p:nvPr/>
        </p:nvSpPr>
        <p:spPr>
          <a:xfrm>
            <a:off x="8229600" y="4251960"/>
            <a:ext cx="3200400" cy="1188720"/>
          </a:xfrm>
          <a:prstGeom prst="roundRect">
            <a:avLst/>
          </a:prstGeom>
          <a:solidFill>
            <a:srgbClr val="E8F8FA"/>
          </a:solidFill>
          <a:ln>
            <a:solidFill>
              <a:srgbClr val="1FA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4584710"/>
            <a:ext cx="283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44150"/>
                </a:solidFill>
                <a:latin typeface="Aptos"/>
              </a:defRPr>
            </a:pPr>
            <a:r>
              <a:rPr sz="2800" dirty="0" err="1"/>
              <a:t>Rentabilidad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4150"/>
                </a:solidFill>
                <a:latin typeface="Aptos"/>
              </a:defRPr>
            </a:pPr>
            <a:r>
              <a:t>Resumen de operaciones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A9A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2560320" cy="1325880"/>
          </a:xfrm>
          <a:prstGeom prst="roundRect">
            <a:avLst/>
          </a:prstGeom>
          <a:solidFill>
            <a:srgbClr val="E8F8FA"/>
          </a:solidFill>
          <a:ln>
            <a:solidFill>
              <a:srgbClr val="1FA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8074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A9A5"/>
                </a:solidFill>
                <a:latin typeface="Aptos"/>
              </a:defRPr>
            </a:pPr>
            <a:r>
              <a:t>OPERACIONES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099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4150"/>
                </a:solidFill>
                <a:latin typeface="Aptos"/>
              </a:defRPr>
            </a:pPr>
            <a:r>
              <a:t>124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234440"/>
            <a:ext cx="2560320" cy="1325880"/>
          </a:xfrm>
          <a:prstGeom prst="roundRect">
            <a:avLst/>
          </a:prstGeom>
          <a:solidFill>
            <a:srgbClr val="E8F8FA"/>
          </a:solidFill>
          <a:ln>
            <a:solidFill>
              <a:srgbClr val="78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138074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A9A5"/>
                </a:solidFill>
                <a:latin typeface="Aptos"/>
              </a:defRPr>
            </a:pPr>
            <a:r>
              <a:t>VALOR FOB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7099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4150"/>
                </a:solidFill>
                <a:latin typeface="Aptos"/>
              </a:defRPr>
            </a:pPr>
            <a:r>
              <a:t>$658,265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234440"/>
            <a:ext cx="2560320" cy="1325880"/>
          </a:xfrm>
          <a:prstGeom prst="roundRect">
            <a:avLst/>
          </a:prstGeom>
          <a:solidFill>
            <a:srgbClr val="E8F8FA"/>
          </a:solidFill>
          <a:ln>
            <a:solidFill>
              <a:srgbClr val="1FA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38074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A9A5"/>
                </a:solidFill>
                <a:latin typeface="Aptos"/>
              </a:defRPr>
            </a:pPr>
            <a:r>
              <a:t>UTILIDAD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7099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4150"/>
                </a:solidFill>
                <a:latin typeface="Aptos"/>
              </a:defRPr>
            </a:pPr>
            <a:r>
              <a:t>$214,072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234440"/>
            <a:ext cx="2286000" cy="1325880"/>
          </a:xfrm>
          <a:prstGeom prst="roundRect">
            <a:avLst/>
          </a:prstGeom>
          <a:solidFill>
            <a:srgbClr val="E8F8FA"/>
          </a:solidFill>
          <a:ln>
            <a:solidFill>
              <a:srgbClr val="78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600" y="138074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A9A5"/>
                </a:solidFill>
                <a:latin typeface="Aptos"/>
              </a:defRPr>
            </a:pPr>
            <a:r>
              <a:t>PENDIENTES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7099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415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530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4150"/>
                </a:solidFill>
                <a:latin typeface="Aptos"/>
              </a:defRPr>
            </a:pP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principales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85800" y="416052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73E"/>
                </a:solidFill>
                <a:latin typeface="Aptos"/>
              </a:defRPr>
            </a:pPr>
            <a:r>
              <a:rPr dirty="0"/>
              <a:t>• 100 </a:t>
            </a:r>
            <a:r>
              <a:rPr dirty="0" err="1"/>
              <a:t>operaciones</a:t>
            </a:r>
            <a:r>
              <a:rPr dirty="0"/>
              <a:t> </a:t>
            </a:r>
            <a:r>
              <a:rPr dirty="0" err="1"/>
              <a:t>internacionales</a:t>
            </a:r>
            <a:r>
              <a:rPr dirty="0"/>
              <a:t> </a:t>
            </a:r>
            <a:r>
              <a:rPr dirty="0" err="1"/>
              <a:t>analizadas</a:t>
            </a:r>
            <a:r>
              <a:rPr dirty="0"/>
              <a:t>.</a:t>
            </a:r>
            <a:br>
              <a:rPr dirty="0"/>
            </a:br>
            <a:r>
              <a:rPr dirty="0"/>
              <a:t>• 15 </a:t>
            </a:r>
            <a:r>
              <a:rPr dirty="0" err="1"/>
              <a:t>operaciones</a:t>
            </a:r>
            <a:r>
              <a:rPr dirty="0"/>
              <a:t> se </a:t>
            </a:r>
            <a:r>
              <a:rPr dirty="0" err="1"/>
              <a:t>encuentran</a:t>
            </a:r>
            <a:r>
              <a:rPr dirty="0"/>
              <a:t> </a:t>
            </a:r>
            <a:r>
              <a:rPr dirty="0" err="1"/>
              <a:t>pendientes</a:t>
            </a:r>
            <a:r>
              <a:rPr dirty="0"/>
              <a:t>.</a:t>
            </a:r>
            <a:br>
              <a:rPr dirty="0"/>
            </a:br>
            <a:r>
              <a:rPr dirty="0"/>
              <a:t>• El Valor FOB total </a:t>
            </a:r>
            <a:r>
              <a:rPr dirty="0" err="1"/>
              <a:t>asciende</a:t>
            </a:r>
            <a:r>
              <a:rPr dirty="0"/>
              <a:t> a $658,265.</a:t>
            </a:r>
            <a:br>
              <a:rPr dirty="0"/>
            </a:br>
            <a:r>
              <a:rPr dirty="0"/>
              <a:t>• 82 </a:t>
            </a:r>
            <a:r>
              <a:rPr dirty="0" err="1"/>
              <a:t>operaciones</a:t>
            </a:r>
            <a:r>
              <a:rPr dirty="0"/>
              <a:t> </a:t>
            </a:r>
            <a:r>
              <a:rPr dirty="0" err="1"/>
              <a:t>presentan</a:t>
            </a:r>
            <a:r>
              <a:rPr dirty="0"/>
              <a:t> </a:t>
            </a:r>
            <a:r>
              <a:rPr dirty="0" err="1"/>
              <a:t>rentabilidad</a:t>
            </a:r>
            <a:r>
              <a:rPr dirty="0"/>
              <a:t> </a:t>
            </a:r>
            <a:r>
              <a:rPr dirty="0" err="1"/>
              <a:t>alta.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6583680" y="33375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4150"/>
                </a:solidFill>
                <a:latin typeface="Aptos"/>
              </a:defRPr>
            </a:pPr>
            <a:r>
              <a:rPr dirty="0"/>
              <a:t>El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integra</a:t>
            </a:r>
            <a:r>
              <a:rPr dirty="0"/>
              <a:t> los </a:t>
            </a:r>
            <a:r>
              <a:rPr dirty="0" err="1"/>
              <a:t>datos</a:t>
            </a:r>
            <a:r>
              <a:rPr dirty="0"/>
              <a:t> de </a:t>
            </a:r>
            <a:r>
              <a:rPr dirty="0" err="1"/>
              <a:t>operaciones</a:t>
            </a:r>
            <a:r>
              <a:rPr dirty="0"/>
              <a:t>, </a:t>
            </a:r>
            <a:r>
              <a:rPr dirty="0" err="1"/>
              <a:t>productos</a:t>
            </a:r>
            <a:r>
              <a:rPr dirty="0"/>
              <a:t> y </a:t>
            </a:r>
            <a:r>
              <a:rPr dirty="0" err="1"/>
              <a:t>mercados</a:t>
            </a:r>
            <a:r>
              <a:rPr dirty="0"/>
              <a:t> para </a:t>
            </a:r>
            <a:r>
              <a:rPr dirty="0" err="1"/>
              <a:t>convertirlos</a:t>
            </a:r>
            <a:r>
              <a:rPr dirty="0"/>
              <a:t> en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útil</a:t>
            </a:r>
            <a:r>
              <a:rPr dirty="0"/>
              <a:t> para la </a:t>
            </a:r>
            <a:r>
              <a:rPr dirty="0" err="1"/>
              <a:t>gerencia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4150"/>
                </a:solidFill>
                <a:latin typeface="Aptos"/>
              </a:defRPr>
            </a:pPr>
            <a:r>
              <a:t>Principales mercados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A9A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A9A5"/>
                </a:solidFill>
                <a:latin typeface="Aptos"/>
              </a:defRPr>
            </a:pPr>
            <a:r>
              <a:rPr dirty="0" err="1"/>
              <a:t>Lectura</a:t>
            </a:r>
            <a:r>
              <a:rPr dirty="0"/>
              <a:t> del </a:t>
            </a:r>
            <a:r>
              <a:rPr dirty="0" err="1"/>
              <a:t>resultado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229600" y="1874519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73E"/>
                </a:solidFill>
                <a:latin typeface="Aptos"/>
              </a:defRPr>
            </a:pPr>
            <a:r>
              <a:t>Estados Unidos registra el mayor Valor FOB individual, con $168,745. España, México, Guatemala y Costa Rica completan los principales mercados del análisis.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2976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4150"/>
                </a:solidFill>
                <a:latin typeface="Aptos"/>
              </a:defRPr>
            </a:pPr>
            <a:r>
              <a:rPr dirty="0" err="1"/>
              <a:t>Estados</a:t>
            </a:r>
            <a:r>
              <a:rPr dirty="0"/>
              <a:t> </a:t>
            </a:r>
            <a:r>
              <a:rPr dirty="0" err="1"/>
              <a:t>Unidos</a:t>
            </a:r>
            <a:r>
              <a:rPr dirty="0"/>
              <a:t/>
            </a:r>
            <a:br>
              <a:rPr dirty="0"/>
            </a:br>
            <a:r>
              <a:rPr dirty="0"/>
              <a:t>$168,745</a:t>
            </a:r>
          </a:p>
        </p:txBody>
      </p:sp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5535037"/>
              </p:ext>
            </p:extLst>
          </p:nvPr>
        </p:nvGraphicFramePr>
        <p:xfrm>
          <a:off x="594360" y="1259688"/>
          <a:ext cx="6720841" cy="40902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4150"/>
                </a:solidFill>
                <a:latin typeface="Aptos"/>
              </a:defRPr>
            </a:pPr>
            <a:r>
              <a:t>Productos más importantes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A9A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A9A5"/>
                </a:solidFill>
                <a:latin typeface="Aptos"/>
              </a:defRPr>
            </a:pPr>
            <a:r>
              <a:t>Producto destacado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74519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73E"/>
                </a:solidFill>
                <a:latin typeface="Aptos"/>
              </a:defRPr>
            </a:pPr>
            <a:r>
              <a:t>Café especial genera la mayor utilidad, con $62,832. Le siguen Aceite de ajonjolí, Miel natural, Cacao en grano y Maní procesado.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2976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4150"/>
                </a:solidFill>
                <a:latin typeface="Aptos"/>
              </a:defRPr>
            </a:pPr>
            <a:r>
              <a:t>Café especial</a:t>
            </a:r>
            <a:br/>
            <a:r>
              <a:t>$62,832</a:t>
            </a:r>
          </a:p>
        </p:txBody>
      </p:sp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5492580"/>
              </p:ext>
            </p:extLst>
          </p:nvPr>
        </p:nvGraphicFramePr>
        <p:xfrm>
          <a:off x="594359" y="914400"/>
          <a:ext cx="7102977" cy="4804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4150"/>
                </a:solidFill>
                <a:latin typeface="Aptos"/>
              </a:defRPr>
            </a:pPr>
            <a:r>
              <a:t>Rentabilidad y seguimiento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A9A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017520" cy="1417320"/>
          </a:xfrm>
          <a:prstGeom prst="roundRect">
            <a:avLst/>
          </a:prstGeom>
          <a:solidFill>
            <a:srgbClr val="E8F8FA"/>
          </a:solidFill>
          <a:ln>
            <a:solidFill>
              <a:srgbClr val="1FA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80744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A9A5"/>
                </a:solidFill>
                <a:latin typeface="Aptos"/>
              </a:defRPr>
            </a:pPr>
            <a:r>
              <a:t>RENTABILIDAD ALTA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4150"/>
                </a:solidFill>
                <a:latin typeface="Aptos"/>
              </a:defRPr>
            </a:pPr>
            <a:r>
              <a:t>82 operaciones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234440"/>
            <a:ext cx="3017520" cy="1417320"/>
          </a:xfrm>
          <a:prstGeom prst="roundRect">
            <a:avLst/>
          </a:prstGeom>
          <a:solidFill>
            <a:srgbClr val="E8F8FA"/>
          </a:solidFill>
          <a:ln>
            <a:solidFill>
              <a:srgbClr val="78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1380744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A9A5"/>
                </a:solidFill>
                <a:latin typeface="Aptos"/>
              </a:defRPr>
            </a:pPr>
            <a:r>
              <a:t>OPERACIONES PENDIENTES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7099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415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234440"/>
            <a:ext cx="3017520" cy="1417320"/>
          </a:xfrm>
          <a:prstGeom prst="roundRect">
            <a:avLst/>
          </a:prstGeom>
          <a:solidFill>
            <a:srgbClr val="E8F8FA"/>
          </a:solidFill>
          <a:ln>
            <a:solidFill>
              <a:srgbClr val="1FA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1380744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A9A5"/>
                </a:solidFill>
                <a:latin typeface="Aptos"/>
              </a:defRPr>
            </a:pPr>
            <a:r>
              <a:t>MAYOR REGIÓN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7099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4150"/>
                </a:solidFill>
                <a:latin typeface="Aptos"/>
              </a:defRPr>
            </a:pPr>
            <a:r>
              <a:t>Norteamérica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A9A5"/>
                </a:solidFill>
                <a:latin typeface="Aptos"/>
              </a:defRPr>
            </a:pPr>
            <a:r>
              <a:t>Lectura del resultado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5478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73E"/>
                </a:solidFill>
                <a:latin typeface="Aptos"/>
              </a:defRPr>
            </a:pPr>
            <a:r>
              <a:rPr dirty="0"/>
              <a:t>La </a:t>
            </a:r>
            <a:r>
              <a:rPr dirty="0" err="1"/>
              <a:t>mayoría</a:t>
            </a:r>
            <a:r>
              <a:rPr dirty="0"/>
              <a:t> de </a:t>
            </a:r>
            <a:r>
              <a:rPr dirty="0" err="1"/>
              <a:t>las</a:t>
            </a:r>
            <a:r>
              <a:rPr dirty="0"/>
              <a:t> </a:t>
            </a:r>
            <a:r>
              <a:rPr dirty="0" err="1"/>
              <a:t>operaciones</a:t>
            </a:r>
            <a:r>
              <a:rPr dirty="0"/>
              <a:t> </a:t>
            </a:r>
            <a:r>
              <a:rPr dirty="0" err="1"/>
              <a:t>analizadas</a:t>
            </a:r>
            <a:r>
              <a:rPr dirty="0"/>
              <a:t> </a:t>
            </a:r>
            <a:r>
              <a:rPr dirty="0" err="1"/>
              <a:t>presenta</a:t>
            </a:r>
            <a:r>
              <a:rPr dirty="0"/>
              <a:t> un </a:t>
            </a:r>
            <a:r>
              <a:rPr dirty="0" err="1"/>
              <a:t>nivel</a:t>
            </a:r>
            <a:r>
              <a:rPr dirty="0"/>
              <a:t> de </a:t>
            </a:r>
            <a:r>
              <a:rPr dirty="0" err="1"/>
              <a:t>rentabilidad</a:t>
            </a:r>
            <a:r>
              <a:rPr dirty="0"/>
              <a:t> alto. Al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, </a:t>
            </a:r>
            <a:r>
              <a:rPr dirty="0" err="1"/>
              <a:t>las</a:t>
            </a:r>
            <a:r>
              <a:rPr dirty="0"/>
              <a:t> </a:t>
            </a:r>
            <a:r>
              <a:rPr dirty="0" err="1"/>
              <a:t>operaciones</a:t>
            </a:r>
            <a:r>
              <a:rPr dirty="0"/>
              <a:t> </a:t>
            </a:r>
            <a:r>
              <a:rPr dirty="0" err="1"/>
              <a:t>pendientes</a:t>
            </a:r>
            <a:r>
              <a:rPr dirty="0"/>
              <a:t> </a:t>
            </a:r>
            <a:r>
              <a:rPr dirty="0" err="1"/>
              <a:t>requieren</a:t>
            </a:r>
            <a:r>
              <a:rPr dirty="0"/>
              <a:t> </a:t>
            </a:r>
            <a:r>
              <a:rPr dirty="0" err="1"/>
              <a:t>seguimiento</a:t>
            </a:r>
            <a:r>
              <a:rPr dirty="0"/>
              <a:t> para </a:t>
            </a:r>
            <a:r>
              <a:rPr dirty="0" err="1"/>
              <a:t>mantener</a:t>
            </a:r>
            <a:r>
              <a:rPr dirty="0"/>
              <a:t> el control del </a:t>
            </a:r>
            <a:r>
              <a:rPr dirty="0" err="1"/>
              <a:t>proceso</a:t>
            </a:r>
            <a:r>
              <a:rPr dirty="0"/>
              <a:t> de </a:t>
            </a:r>
            <a:r>
              <a:rPr dirty="0" err="1"/>
              <a:t>exportación</a:t>
            </a:r>
            <a:r>
              <a:rPr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832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4150"/>
                </a:solidFill>
                <a:latin typeface="Aptos"/>
              </a:defRPr>
            </a:pPr>
            <a:r>
              <a:t>Norteamérica registra el mayor Valor FOB regional:</a:t>
            </a:r>
            <a:br/>
            <a:r>
              <a:t>$289,058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4150"/>
                </a:solidFill>
                <a:latin typeface="Aptos"/>
              </a:defRPr>
            </a:pPr>
            <a:r>
              <a:t>Principales hallazgos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A9A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A9A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34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4150"/>
                </a:solidFill>
                <a:latin typeface="Aptos"/>
              </a:defRPr>
            </a:pPr>
            <a:r>
              <a:t>Mercado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2344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73E"/>
                </a:solidFill>
                <a:latin typeface="Aptos"/>
              </a:defRPr>
            </a:pPr>
            <a:r>
              <a:t>Estados Unidos presenta el mayor Valor FOB individual: $168,745.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A9A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423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4150"/>
                </a:solidFill>
                <a:latin typeface="Aptos"/>
              </a:defRPr>
            </a:pPr>
            <a:r>
              <a:t>Producto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23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73E"/>
                </a:solidFill>
                <a:latin typeface="Aptos"/>
              </a:defRPr>
            </a:pPr>
            <a:r>
              <a:t>Café especial genera la mayor utilidad: $62,832.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A9A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4150"/>
                </a:solidFill>
                <a:latin typeface="Aptos"/>
              </a:defRPr>
            </a:pPr>
            <a:r>
              <a:t>Región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6118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73E"/>
                </a:solidFill>
                <a:latin typeface="Aptos"/>
              </a:defRPr>
            </a:pPr>
            <a:r>
              <a:t>Norteamérica concentra el mayor Valor FOB regional: $289,058.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A9A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00600"/>
            <a:ext cx="15578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4150"/>
                </a:solidFill>
                <a:latin typeface="Aptos"/>
              </a:defRPr>
            </a:pPr>
            <a:r>
              <a:rPr dirty="0" err="1"/>
              <a:t>Seguimiento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2743200" y="4800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73E"/>
                </a:solidFill>
                <a:latin typeface="Aptos"/>
              </a:defRPr>
            </a:pPr>
            <a:r>
              <a:rPr dirty="0"/>
              <a:t>15 </a:t>
            </a:r>
            <a:r>
              <a:rPr dirty="0" err="1"/>
              <a:t>operaciones</a:t>
            </a:r>
            <a:r>
              <a:rPr dirty="0"/>
              <a:t> </a:t>
            </a:r>
            <a:r>
              <a:rPr dirty="0" err="1"/>
              <a:t>permanecen</a:t>
            </a:r>
            <a:r>
              <a:rPr dirty="0"/>
              <a:t> </a:t>
            </a:r>
            <a:r>
              <a:rPr dirty="0" err="1"/>
              <a:t>pendientes</a:t>
            </a:r>
            <a:r>
              <a:rPr dirty="0"/>
              <a:t> y </a:t>
            </a:r>
            <a:r>
              <a:rPr dirty="0" err="1"/>
              <a:t>requieren</a:t>
            </a:r>
            <a:r>
              <a:rPr dirty="0"/>
              <a:t> </a:t>
            </a:r>
            <a:r>
              <a:rPr dirty="0" err="1"/>
              <a:t>atención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A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4150"/>
                </a:solidFill>
                <a:latin typeface="Aptos"/>
              </a:defRPr>
            </a:pPr>
            <a:r>
              <a:t>Conclusiones y 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00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FA9A5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00090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A9A5"/>
                </a:solidFill>
                <a:latin typeface="Aptos"/>
              </a:defRPr>
            </a:pPr>
            <a:r>
              <a:rPr dirty="0" err="1"/>
              <a:t>Conclusiones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525097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0">
                <a:solidFill>
                  <a:srgbClr val="26373E"/>
                </a:solidFill>
                <a:latin typeface="Aptos"/>
              </a:defRPr>
            </a:pPr>
            <a:r>
              <a:rPr sz="2000" dirty="0"/>
              <a:t>1. </a:t>
            </a:r>
            <a:r>
              <a:rPr sz="2000" dirty="0" err="1"/>
              <a:t>Estados</a:t>
            </a:r>
            <a:r>
              <a:rPr sz="2000" dirty="0"/>
              <a:t> </a:t>
            </a:r>
            <a:r>
              <a:rPr sz="2000" dirty="0" err="1"/>
              <a:t>Unidos</a:t>
            </a:r>
            <a:r>
              <a:rPr sz="2000" dirty="0"/>
              <a:t> </a:t>
            </a:r>
            <a:r>
              <a:rPr sz="2000" dirty="0" err="1"/>
              <a:t>representa</a:t>
            </a:r>
            <a:r>
              <a:rPr sz="2000" dirty="0"/>
              <a:t> el </a:t>
            </a:r>
            <a:r>
              <a:rPr sz="2000" dirty="0" err="1"/>
              <a:t>país</a:t>
            </a:r>
            <a:r>
              <a:rPr sz="2000" dirty="0"/>
              <a:t> con mayor Valor FOB </a:t>
            </a:r>
            <a:r>
              <a:rPr sz="2000" dirty="0" err="1"/>
              <a:t>dentro</a:t>
            </a:r>
            <a:r>
              <a:rPr sz="2000" dirty="0"/>
              <a:t> de </a:t>
            </a:r>
            <a:r>
              <a:rPr sz="2000" dirty="0" err="1"/>
              <a:t>las</a:t>
            </a:r>
            <a:r>
              <a:rPr sz="2000" dirty="0"/>
              <a:t> </a:t>
            </a:r>
            <a:r>
              <a:rPr sz="2000" dirty="0" err="1"/>
              <a:t>operaciones</a:t>
            </a:r>
            <a:r>
              <a:rPr sz="2000" dirty="0"/>
              <a:t> </a:t>
            </a:r>
            <a:r>
              <a:rPr sz="2000" dirty="0" err="1"/>
              <a:t>analizadas</a:t>
            </a:r>
            <a:r>
              <a:rPr sz="2000" dirty="0"/>
              <a:t>.</a:t>
            </a:r>
            <a:br>
              <a:rPr sz="2000" dirty="0"/>
            </a:br>
            <a:r>
              <a:rPr sz="2000" dirty="0"/>
              <a:t/>
            </a:r>
            <a:br>
              <a:rPr sz="2000" dirty="0"/>
            </a:br>
            <a:r>
              <a:rPr sz="2000" dirty="0"/>
              <a:t>2. Café especial </a:t>
            </a:r>
            <a:r>
              <a:rPr sz="2000" dirty="0" err="1"/>
              <a:t>destaca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generar</a:t>
            </a:r>
            <a:r>
              <a:rPr sz="2000" dirty="0"/>
              <a:t> la mayor </a:t>
            </a:r>
            <a:r>
              <a:rPr sz="2000" dirty="0" err="1"/>
              <a:t>utilidad</a:t>
            </a:r>
            <a:r>
              <a:rPr sz="2000" dirty="0"/>
              <a:t>.</a:t>
            </a:r>
            <a:br>
              <a:rPr sz="2000" dirty="0"/>
            </a:br>
            <a:r>
              <a:rPr sz="2000" dirty="0"/>
              <a:t/>
            </a:r>
            <a:br>
              <a:rPr sz="2000" dirty="0"/>
            </a:br>
            <a:r>
              <a:rPr sz="2000" dirty="0"/>
              <a:t>3. </a:t>
            </a:r>
            <a:r>
              <a:rPr sz="2000" dirty="0" err="1"/>
              <a:t>Norteamérica</a:t>
            </a:r>
            <a:r>
              <a:rPr sz="2000" dirty="0"/>
              <a:t> </a:t>
            </a:r>
            <a:r>
              <a:rPr sz="2000" dirty="0" err="1"/>
              <a:t>presenta</a:t>
            </a:r>
            <a:r>
              <a:rPr sz="2000" dirty="0"/>
              <a:t> el mayor Valor FOB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región</a:t>
            </a:r>
            <a:r>
              <a:rPr sz="2000" dirty="0"/>
              <a:t> y </a:t>
            </a:r>
            <a:r>
              <a:rPr sz="2000" dirty="0" err="1"/>
              <a:t>las</a:t>
            </a:r>
            <a:r>
              <a:rPr sz="2000" dirty="0"/>
              <a:t> </a:t>
            </a:r>
            <a:r>
              <a:rPr sz="2000" dirty="0" err="1"/>
              <a:t>operaciones</a:t>
            </a:r>
            <a:r>
              <a:rPr sz="2000" dirty="0"/>
              <a:t> </a:t>
            </a:r>
            <a:r>
              <a:rPr sz="2000" dirty="0" err="1"/>
              <a:t>pendientes</a:t>
            </a:r>
            <a:r>
              <a:rPr sz="2000" dirty="0"/>
              <a:t> </a:t>
            </a:r>
            <a:r>
              <a:rPr sz="2000" dirty="0" err="1"/>
              <a:t>requieren</a:t>
            </a:r>
            <a:r>
              <a:rPr sz="2000" dirty="0"/>
              <a:t> </a:t>
            </a:r>
            <a:r>
              <a:rPr sz="2000" dirty="0" err="1"/>
              <a:t>seguimiento</a:t>
            </a:r>
            <a:r>
              <a:rPr sz="20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A9A5"/>
                </a:solidFill>
                <a:latin typeface="Aptos"/>
              </a:defRPr>
            </a:pPr>
            <a:r>
              <a:t>Recomendaciones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0020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0">
                <a:solidFill>
                  <a:srgbClr val="26373E"/>
                </a:solidFill>
                <a:latin typeface="Aptos"/>
              </a:defRPr>
            </a:pPr>
            <a:r>
              <a:rPr sz="2000" dirty="0"/>
              <a:t>1. </a:t>
            </a:r>
            <a:r>
              <a:rPr sz="2000" dirty="0" err="1"/>
              <a:t>Fortalecer</a:t>
            </a:r>
            <a:r>
              <a:rPr sz="2000" dirty="0"/>
              <a:t> el </a:t>
            </a:r>
            <a:r>
              <a:rPr sz="2000" dirty="0" err="1"/>
              <a:t>seguimiento</a:t>
            </a:r>
            <a:r>
              <a:rPr sz="2000" dirty="0"/>
              <a:t> </a:t>
            </a:r>
            <a:r>
              <a:rPr sz="2000" dirty="0" err="1"/>
              <a:t>comercial</a:t>
            </a:r>
            <a:r>
              <a:rPr sz="2000" dirty="0"/>
              <a:t> del </a:t>
            </a:r>
            <a:r>
              <a:rPr sz="2000" dirty="0" err="1"/>
              <a:t>mercado</a:t>
            </a:r>
            <a:r>
              <a:rPr sz="2000" dirty="0"/>
              <a:t> </a:t>
            </a:r>
            <a:r>
              <a:rPr sz="2000" dirty="0" err="1"/>
              <a:t>estadounidense</a:t>
            </a:r>
            <a:r>
              <a:rPr sz="2000" dirty="0"/>
              <a:t>, </a:t>
            </a:r>
            <a:r>
              <a:rPr sz="2000" dirty="0" err="1"/>
              <a:t>considerando</a:t>
            </a:r>
            <a:r>
              <a:rPr sz="2000" dirty="0"/>
              <a:t> </a:t>
            </a:r>
            <a:r>
              <a:rPr sz="2000" dirty="0" err="1"/>
              <a:t>su</a:t>
            </a:r>
            <a:r>
              <a:rPr sz="2000" dirty="0"/>
              <a:t> mayor Valor FOB individual.</a:t>
            </a:r>
            <a:br>
              <a:rPr sz="2000" dirty="0"/>
            </a:br>
            <a:r>
              <a:rPr sz="2000" dirty="0"/>
              <a:t/>
            </a:r>
            <a:br>
              <a:rPr sz="2000" dirty="0"/>
            </a:br>
            <a:r>
              <a:rPr sz="2000" dirty="0"/>
              <a:t>2. </a:t>
            </a:r>
            <a:r>
              <a:rPr sz="2000" dirty="0" err="1"/>
              <a:t>Mantener</a:t>
            </a:r>
            <a:r>
              <a:rPr sz="2000" dirty="0"/>
              <a:t> </a:t>
            </a:r>
            <a:r>
              <a:rPr sz="2000" dirty="0" err="1"/>
              <a:t>acciones</a:t>
            </a:r>
            <a:r>
              <a:rPr sz="2000" dirty="0"/>
              <a:t> </a:t>
            </a:r>
            <a:r>
              <a:rPr sz="2000" dirty="0" err="1"/>
              <a:t>comerciales</a:t>
            </a:r>
            <a:r>
              <a:rPr sz="2000" dirty="0"/>
              <a:t> </a:t>
            </a:r>
            <a:r>
              <a:rPr sz="2000" dirty="0" err="1"/>
              <a:t>sobre</a:t>
            </a:r>
            <a:r>
              <a:rPr sz="2000" dirty="0"/>
              <a:t> Café especial, </a:t>
            </a:r>
            <a:r>
              <a:rPr sz="2000" dirty="0" err="1"/>
              <a:t>considerando</a:t>
            </a:r>
            <a:r>
              <a:rPr sz="2000" dirty="0"/>
              <a:t> </a:t>
            </a:r>
            <a:r>
              <a:rPr sz="2000" dirty="0" err="1"/>
              <a:t>su</a:t>
            </a:r>
            <a:r>
              <a:rPr sz="2000" dirty="0"/>
              <a:t> </a:t>
            </a:r>
            <a:r>
              <a:rPr sz="2000" dirty="0" err="1"/>
              <a:t>aporte</a:t>
            </a:r>
            <a:r>
              <a:rPr sz="2000" dirty="0"/>
              <a:t> a la </a:t>
            </a:r>
            <a:r>
              <a:rPr sz="2000" dirty="0" err="1"/>
              <a:t>utilidad</a:t>
            </a:r>
            <a:r>
              <a:rPr sz="2000" dirty="0"/>
              <a:t>.</a:t>
            </a:r>
            <a:br>
              <a:rPr sz="2000" dirty="0"/>
            </a:br>
            <a:r>
              <a:rPr sz="2000" dirty="0"/>
              <a:t/>
            </a:r>
            <a:br>
              <a:rPr sz="2000" dirty="0"/>
            </a:br>
            <a:r>
              <a:rPr sz="2000" dirty="0"/>
              <a:t>3. Dar </a:t>
            </a:r>
            <a:r>
              <a:rPr sz="2000" dirty="0" err="1"/>
              <a:t>seguimiento</a:t>
            </a:r>
            <a:r>
              <a:rPr sz="2000" dirty="0"/>
              <a:t> a </a:t>
            </a:r>
            <a:r>
              <a:rPr sz="2000" dirty="0" err="1"/>
              <a:t>las</a:t>
            </a:r>
            <a:r>
              <a:rPr sz="2000" dirty="0"/>
              <a:t> 15 </a:t>
            </a:r>
            <a:r>
              <a:rPr sz="2000" dirty="0" err="1"/>
              <a:t>operaciones</a:t>
            </a:r>
            <a:r>
              <a:rPr sz="2000" dirty="0"/>
              <a:t> </a:t>
            </a:r>
            <a:r>
              <a:rPr sz="2000" dirty="0" err="1"/>
              <a:t>pendientes</a:t>
            </a:r>
            <a:r>
              <a:rPr sz="2000" dirty="0"/>
              <a:t> para </a:t>
            </a:r>
            <a:r>
              <a:rPr sz="2000" dirty="0" err="1"/>
              <a:t>reducir</a:t>
            </a:r>
            <a:r>
              <a:rPr sz="2000" dirty="0"/>
              <a:t> </a:t>
            </a:r>
            <a:r>
              <a:rPr sz="2000" dirty="0" err="1"/>
              <a:t>retrasos</a:t>
            </a:r>
            <a:r>
              <a:rPr sz="2000" dirty="0"/>
              <a:t> y </a:t>
            </a:r>
            <a:r>
              <a:rPr sz="2000" dirty="0" err="1"/>
              <a:t>mantener</a:t>
            </a:r>
            <a:r>
              <a:rPr sz="2000" dirty="0"/>
              <a:t> un </a:t>
            </a:r>
            <a:r>
              <a:rPr sz="2000" dirty="0" err="1"/>
              <a:t>mejor</a:t>
            </a:r>
            <a:r>
              <a:rPr sz="2000" dirty="0"/>
              <a:t> control </a:t>
            </a:r>
            <a:r>
              <a:rPr sz="2000" dirty="0" err="1"/>
              <a:t>operativo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</TotalTime>
  <Words>380</Words>
  <Application>Microsoft Office PowerPoint</Application>
  <PresentationFormat>Panorámica</PresentationFormat>
  <Paragraphs>72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Calibri</vt:lpstr>
      <vt:lpstr>Calibri Light</vt:lpstr>
      <vt:lpstr>Retrospección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HP</dc:creator>
  <cp:keywords/>
  <dc:description>generated using python-pptx</dc:description>
  <cp:lastModifiedBy>HP</cp:lastModifiedBy>
  <cp:revision>4</cp:revision>
  <dcterms:created xsi:type="dcterms:W3CDTF">2013-01-27T09:14:16Z</dcterms:created>
  <dcterms:modified xsi:type="dcterms:W3CDTF">2026-09-28T04:58:27Z</dcterms:modified>
  <cp:category/>
</cp:coreProperties>
</file>